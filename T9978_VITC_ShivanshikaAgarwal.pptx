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7" r:id="rId4"/>
    <p:sldId id="259" r:id="rId6"/>
    <p:sldId id="262" r:id="rId7"/>
    <p:sldId id="261" r:id="rId8"/>
    <p:sldId id="264" r:id="rId10"/>
    <p:sldId id="260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58366" autoAdjust="0"/>
  </p:normalViewPr>
  <p:slideViewPr>
    <p:cSldViewPr snapToGrid="0" snapToObjects="1">
      <p:cViewPr>
        <p:scale>
          <a:sx n="66" d="100"/>
          <a:sy n="66" d="100"/>
        </p:scale>
        <p:origin x="180" y="-516"/>
      </p:cViewPr>
      <p:guideLst/>
    </p:cSldViewPr>
  </p:slideViewPr>
  <p:notesTextViewPr>
    <p:cViewPr>
      <p:scale>
        <a:sx n="1" d="1"/>
        <a:sy n="1" d="1"/>
      </p:scale>
      <p:origin x="0" y="-66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6167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morning everyone. I'm Shivanshika Agarwal from VIT Chennai, presenting my Review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645D8-EACE-C65F-2E8A-E7E2AA1A7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4988A-7D4D-E2BF-65DB-78164261A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98243F-C386-AF5C-A2D5-BA88BF57B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My first project is GraphSafeAI — a framework combining Graph Neural Networks and GraphRAG to predict safety risks, recommend safer routes, and optimize emergency response for women's safety.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95F40-555B-9633-886F-658E8C3495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84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Today's safety systems are reactive — crime data reports incidents after they happen, navigation apps ignore safety, and response is dispatched only after an incident. Our objectives: predict risk hotspots with a spatio-temporal GNN, recommend safe routes, optimize emergency response placement, and provide explainable, evidence-backed risk reasoning using GraphRAG.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use NCRB crime data, OpenStreetMap road networks, and real-time advisories, built on PyTorch Geometric, Neo4j, and GraphRAG. Expected outcomes include dynamic risk scores, safety-aware routing, optimized emergency response, and an explainable safety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4EA89-F651-748E-2984-CB5324A7F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CD78F-CA65-CCD5-FA4C-59CD85903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8E305-9266-2B10-3E76-074EEA5B2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My second project is an AI-powered Mental Health Companion, built on a hybrid agentic system that combines adaptive AI reasoning with a simple, deployable pipeline.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5FB5B-7D4B-E093-9299-CC0553CBF0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572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6822E-790D-F44F-1BE6-F03809FCE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E1EF3-20CB-7222-7B5E-CD3FADBDC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BADF2-95A1-E119-E0BE-FDC90BBC8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Existing mental health AI is either fully agentic and hard to deploy, or fully traditional and unable to reason across text, voice, and sensor data. I'm building a hybrid pipeline — agentic only in the AI/ML layer, with specialized agents for NLP, speech, sensors, fusion, and recommendations — keeping the rest of the system simple, robust, and interpretable.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7A9A6-81DB-EED6-0E18-A671D911A9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6171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48B3B-E651-2854-0925-245972845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ECAAD8-57AD-37FE-E090-DA823CB80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8BDE1F-C820-AA1A-6389-F64EB1935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Using text, voice, and synthetic sensor datasets, built with LangChain, PyTorch, and HuggingFace. The outcome is a working prototype that fuses multimodal inputs into coping recommendations, with every agent's decision fully traceable.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DC6C0-3040-26FE-30CB-C1A94DCD1B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358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That concludes both projects — thank you. I'm happy to take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96596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315468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Shivanshika Agarwal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Chennai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698609" y="3006969"/>
            <a:ext cx="2794782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5" name="Text 3"/>
          <p:cNvSpPr txBox="1"/>
          <p:nvPr/>
        </p:nvSpPr>
        <p:spPr>
          <a:xfrm>
            <a:off x="0" y="397764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C36EB6-8393-25D4-ED3C-D437D0E8E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6453B34-EE43-CD05-4A89-4FA732A0BE89}"/>
              </a:ext>
            </a:extLst>
          </p:cNvPr>
          <p:cNvSpPr txBox="1"/>
          <p:nvPr/>
        </p:nvSpPr>
        <p:spPr>
          <a:xfrm>
            <a:off x="0" y="196596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GraphSafeAI</a:t>
            </a:r>
            <a:endParaRPr lang="en-US" sz="4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7F73EB7-71EE-25F9-0D8E-E140C2C40A88}"/>
              </a:ext>
            </a:extLst>
          </p:cNvPr>
          <p:cNvSpPr txBox="1"/>
          <p:nvPr/>
        </p:nvSpPr>
        <p:spPr>
          <a:xfrm>
            <a:off x="1371600" y="28803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GNN + GraphRAG Framework for Predictive Women's Safety, Safe Navigation, and Emergency Response Optimization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FAA0160-571A-D7D2-2968-8593E6A2A1B5}"/>
              </a:ext>
            </a:extLst>
          </p:cNvPr>
          <p:cNvSpPr/>
          <p:nvPr/>
        </p:nvSpPr>
        <p:spPr>
          <a:xfrm>
            <a:off x="5166360" y="3794760"/>
            <a:ext cx="182880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610964B-89FE-160D-ED46-2561DFCB29C5}"/>
              </a:ext>
            </a:extLst>
          </p:cNvPr>
          <p:cNvSpPr txBox="1"/>
          <p:nvPr/>
        </p:nvSpPr>
        <p:spPr>
          <a:xfrm>
            <a:off x="0" y="397764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81719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data is reactive, not predictive — systems like NCRB report incidents after the fact rather than forecasting risk</a:t>
            </a:r>
            <a:endParaRPr lang="en-US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apps optimize for the shortest or fastest route, not the safest one</a:t>
            </a:r>
            <a:endParaRPr lang="en-US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is dispatched reactively after a report, instead of being proactively positioned in high-risk zones</a:t>
            </a:r>
            <a:endParaRPr lang="en-US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AI-based safety systems lack explainability and do not incorporate real-world context such as advisories or on-ground events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80760" y="1234440"/>
            <a:ext cx="0" cy="47548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309360" y="12344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035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309360" y="187452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crime and safety hotspots using a spatio-temporal GNN (ST-GNN)</a:t>
            </a:r>
            <a:endParaRPr lang="en-US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safe travel routes using GraphSAGE / GAT on the street network graph</a:t>
            </a:r>
            <a:endParaRPr lang="en-US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emergency response allocation through graph matching on a bipartite graph of units and regions</a:t>
            </a:r>
            <a:endParaRPr lang="en-US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explainable, evidence-backed risk reasoning through GraphRAG</a:t>
            </a:r>
            <a:endParaRPr lang="en-US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real-world context — advisories, news, infrastructure reports, and events — into risk assessment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Dataset, Technical Stack &amp; Outcomes</a:t>
            </a:r>
            <a:endParaRPr lang="en-US" sz="3000" dirty="0"/>
          </a:p>
        </p:txBody>
      </p:sp>
      <p:sp>
        <p:nvSpPr>
          <p:cNvPr id="14" name="Header"/>
          <p:cNvSpPr txBox="1"/>
          <p:nvPr/>
        </p:nvSpPr>
        <p:spPr>
          <a:xfrm>
            <a:off x="548640" y="1234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000" dirty="0"/>
          </a:p>
        </p:txBody>
      </p:sp>
      <p:sp>
        <p:nvSpPr>
          <p:cNvPr id="15" name="HLine"/>
          <p:cNvSpPr/>
          <p:nvPr/>
        </p:nvSpPr>
        <p:spPr>
          <a:xfrm>
            <a:off x="548640" y="1691640"/>
            <a:ext cx="35661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Bullets"/>
          <p:cNvSpPr txBox="1"/>
          <p:nvPr/>
        </p:nvSpPr>
        <p:spPr>
          <a:xfrm>
            <a:off x="548640" y="1874520"/>
            <a:ext cx="3566160" cy="44892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NCRB crime statistics</a:t>
            </a:r>
            <a:r>
              <a:rPr lang="en-US" sz="13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govt records, cleaned into historical incident base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(OSMnx)</a:t>
            </a:r>
            <a:r>
              <a:rPr lang="en-US" sz="13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road &amp; region graphs extracted programmatically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Police, hospitals, response units</a:t>
            </a:r>
            <a:r>
              <a:rPr lang="en-US" sz="13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public directories, geocoded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Streetlight / infra complaints</a:t>
            </a:r>
            <a:r>
              <a:rPr lang="en-US" sz="13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municipal portals &amp; civic apps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News, advisories, event notices</a:t>
            </a:r>
            <a:r>
              <a:rPr lang="en-US" sz="13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scraped for GraphRAG knowledge graph</a:t>
            </a:r>
            <a:endParaRPr lang="en-US" sz="1300" dirty="0"/>
          </a:p>
        </p:txBody>
      </p:sp>
      <p:sp>
        <p:nvSpPr>
          <p:cNvPr id="16" name="VLine"/>
          <p:cNvSpPr/>
          <p:nvPr/>
        </p:nvSpPr>
        <p:spPr>
          <a:xfrm>
            <a:off x="4206240" y="1234440"/>
            <a:ext cx="0" cy="47548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Header"/>
          <p:cNvSpPr txBox="1"/>
          <p:nvPr/>
        </p:nvSpPr>
        <p:spPr>
          <a:xfrm>
            <a:off x="4297680" y="1234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2000" dirty="0"/>
          </a:p>
        </p:txBody>
      </p:sp>
      <p:sp>
        <p:nvSpPr>
          <p:cNvPr id="18" name="HLine"/>
          <p:cNvSpPr/>
          <p:nvPr/>
        </p:nvSpPr>
        <p:spPr>
          <a:xfrm>
            <a:off x="4297680" y="1691640"/>
            <a:ext cx="35661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2" name="Table"/>
          <p:cNvGraphicFramePr>
            <a:graphicFrameLocks noGrp="1"/>
          </p:cNvGraphicFramePr>
          <p:nvPr/>
        </p:nvGraphicFramePr>
        <p:xfrm>
          <a:off x="4297680" y="1874520"/>
          <a:ext cx="3566160" cy="1890000"/>
        </p:xfrm>
        <a:graphic>
          <a:graphicData uri="http://schemas.openxmlformats.org/drawingml/2006/table">
            <a:tbl>
              <a:tblPr/>
              <a:tblGrid>
                <a:gridCol w="1400000"/>
                <a:gridCol w="2166160"/>
              </a:tblGrid>
              <a:tr h="27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GNN / Temporal GNN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 Geometric, torch_geometric_temporal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&amp; Geospatial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OSMnx, NetworkX, GeoPandas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Graph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Store / Embeddings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 / ChromaDB, Sentence Transformers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GraphRAG / LLM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GraphRAG / LangChain, GPT-4o / Llama 3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/ Visualization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Streamlit, Folium / Leaflet.js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VLine"/>
          <p:cNvSpPr/>
          <p:nvPr/>
        </p:nvSpPr>
        <p:spPr>
          <a:xfrm>
            <a:off x="7955280" y="1234440"/>
            <a:ext cx="0" cy="47548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Header"/>
          <p:cNvSpPr txBox="1"/>
          <p:nvPr/>
        </p:nvSpPr>
        <p:spPr>
          <a:xfrm>
            <a:off x="8046720" y="1234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2000" dirty="0"/>
          </a:p>
        </p:txBody>
      </p:sp>
      <p:sp>
        <p:nvSpPr>
          <p:cNvPr id="21" name="HLine"/>
          <p:cNvSpPr/>
          <p:nvPr/>
        </p:nvSpPr>
        <p:spPr>
          <a:xfrm>
            <a:off x="8046720" y="1691640"/>
            <a:ext cx="35661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Bullets"/>
          <p:cNvSpPr txBox="1"/>
          <p:nvPr/>
        </p:nvSpPr>
        <p:spPr>
          <a:xfrm>
            <a:off x="8046720" y="1874520"/>
            <a:ext cx="3566160" cy="44892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Region-wise predictive risk scores, updated over time rather than static counts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Safety-aware route recommendations balancing distance with predicted risk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placement of emergency response units ahead of high-risk periods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Evidence-backed, explainable risk alerts grounded in real-world context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dashboard with a conversational safety copilot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3B0A13-BC3C-F604-F386-99290CDD2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71DB6FD-13E2-F361-50D0-280491DAA086}"/>
              </a:ext>
            </a:extLst>
          </p:cNvPr>
          <p:cNvSpPr txBox="1"/>
          <p:nvPr/>
        </p:nvSpPr>
        <p:spPr>
          <a:xfrm>
            <a:off x="0" y="196596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400" b="1" dirty="0">
                <a:solidFill>
                  <a:srgbClr val="073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Mental Health Companion</a:t>
            </a:r>
            <a:endParaRPr lang="en-US" sz="4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22DCAB-97DC-4750-B7D0-3499AEBD82C2}"/>
              </a:ext>
            </a:extLst>
          </p:cNvPr>
          <p:cNvSpPr txBox="1"/>
          <p:nvPr/>
        </p:nvSpPr>
        <p:spPr>
          <a:xfrm>
            <a:off x="1371600" y="28803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i="1" dirty="0">
                <a:solidFill>
                  <a:srgbClr val="4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Mental Health Companion using Hybrid Agentic System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7226501-1100-1C5D-620A-C844AA0C008D}"/>
              </a:ext>
            </a:extLst>
          </p:cNvPr>
          <p:cNvSpPr/>
          <p:nvPr/>
        </p:nvSpPr>
        <p:spPr>
          <a:xfrm>
            <a:off x="5166360" y="3794760"/>
            <a:ext cx="182880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2907A98-E28E-DD67-5149-409BE4E68CC5}"/>
              </a:ext>
            </a:extLst>
          </p:cNvPr>
          <p:cNvSpPr txBox="1"/>
          <p:nvPr/>
        </p:nvSpPr>
        <p:spPr>
          <a:xfrm>
            <a:off x="0" y="397764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53351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4D0BD0-E061-2393-8D03-A55BD2831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F1DF268-DDC4-5702-17F8-BC5C6967DD54}"/>
              </a:ext>
            </a:extLst>
          </p:cNvPr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EC23FA-D5FB-93F6-9DDB-191A805D14D5}"/>
              </a:ext>
            </a:extLst>
          </p:cNvPr>
          <p:cNvSpPr txBox="1"/>
          <p:nvPr/>
        </p:nvSpPr>
        <p:spPr>
          <a:xfrm>
            <a:off x="548640" y="12344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8C94FC2-8D52-84E2-5F2F-8CFB70574D34}"/>
              </a:ext>
            </a:extLst>
          </p:cNvPr>
          <p:cNvSpPr/>
          <p:nvPr/>
        </p:nvSpPr>
        <p:spPr>
          <a:xfrm>
            <a:off x="548640" y="1691640"/>
            <a:ext cx="53035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F1113D6-ECF6-BFD6-77C8-B93843050D2C}"/>
              </a:ext>
            </a:extLst>
          </p:cNvPr>
          <p:cNvSpPr txBox="1"/>
          <p:nvPr/>
        </p:nvSpPr>
        <p:spPr>
          <a:xfrm>
            <a:off x="548640" y="187452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07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systems lack adaptive intelligence for multimodal data</a:t>
            </a:r>
            <a:endParaRPr lang="en-US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07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pipelines: fully agentic (complex, hard to deploy) or fully traditional (rigid, no reasoning)</a:t>
            </a:r>
            <a:endParaRPr lang="en-US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07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modular, collaborative reasoning across text, voice &amp; sensor signals</a:t>
            </a:r>
            <a:endParaRPr lang="en-US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07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an architecture that is both adaptive and deployable</a:t>
            </a:r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7E84D69-A71E-809F-BEF0-2F0A63EBD003}"/>
              </a:ext>
            </a:extLst>
          </p:cNvPr>
          <p:cNvSpPr/>
          <p:nvPr/>
        </p:nvSpPr>
        <p:spPr>
          <a:xfrm>
            <a:off x="6080760" y="1234440"/>
            <a:ext cx="0" cy="47548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42E836C-B3D9-21F3-8A7D-D74044ABEAAF}"/>
              </a:ext>
            </a:extLst>
          </p:cNvPr>
          <p:cNvSpPr txBox="1"/>
          <p:nvPr/>
        </p:nvSpPr>
        <p:spPr>
          <a:xfrm>
            <a:off x="6309360" y="12344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73A5B47-2842-BDE7-830D-D1ADD4F39EF8}"/>
              </a:ext>
            </a:extLst>
          </p:cNvPr>
          <p:cNvSpPr/>
          <p:nvPr/>
        </p:nvSpPr>
        <p:spPr>
          <a:xfrm>
            <a:off x="6309360" y="1691640"/>
            <a:ext cx="53035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A23DA7C-63ED-D66C-AB66-952840C44942}"/>
              </a:ext>
            </a:extLst>
          </p:cNvPr>
          <p:cNvSpPr txBox="1"/>
          <p:nvPr/>
        </p:nvSpPr>
        <p:spPr>
          <a:xfrm>
            <a:off x="6309360" y="187452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07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hybrid pipeline — agentic core, traditional periphery</a:t>
            </a:r>
            <a:endParaRPr lang="en-US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07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Confine agents to AI/ML layer: NLP, Speech, Sensor, Fusion, Recommendation</a:t>
            </a:r>
            <a:endParaRPr lang="en-US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07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multimodal fusion for holistic mood assessment</a:t>
            </a:r>
            <a:endParaRPr lang="en-US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07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data engineering, frontend &amp; deployment layers simple and robust</a:t>
            </a:r>
            <a:endParaRPr lang="en-US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07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orchestration overhead vs. fully agentic systems</a:t>
            </a:r>
            <a:endParaRPr lang="en-US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07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interpretability of every agent decision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14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Dataset, Technical Stack &amp; Outcomes</a:t>
            </a:r>
            <a:endParaRPr lang="en-US" sz="3000" dirty="0"/>
          </a:p>
        </p:txBody>
      </p:sp>
      <p:sp>
        <p:nvSpPr>
          <p:cNvPr id="14" name="Header"/>
          <p:cNvSpPr txBox="1"/>
          <p:nvPr/>
        </p:nvSpPr>
        <p:spPr>
          <a:xfrm>
            <a:off x="548640" y="1234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000" dirty="0"/>
          </a:p>
        </p:txBody>
      </p:sp>
      <p:sp>
        <p:nvSpPr>
          <p:cNvPr id="15" name="HLine"/>
          <p:cNvSpPr/>
          <p:nvPr/>
        </p:nvSpPr>
        <p:spPr>
          <a:xfrm>
            <a:off x="548640" y="1691640"/>
            <a:ext cx="35661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Bullets"/>
          <p:cNvSpPr txBox="1"/>
          <p:nvPr/>
        </p:nvSpPr>
        <p:spPr>
          <a:xfrm>
            <a:off x="548640" y="1874520"/>
            <a:ext cx="3566160" cy="44892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GoEmotions dataset + synthetic journal entries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RAVDESS, CREMA-D speech emotion datasets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synthetic time-series generator (simulated HR, sleep, activity)</a:t>
            </a:r>
            <a:endParaRPr lang="en-US" sz="1400" dirty="0"/>
          </a:p>
        </p:txBody>
      </p:sp>
      <p:sp>
        <p:nvSpPr>
          <p:cNvPr id="16" name="VLine"/>
          <p:cNvSpPr/>
          <p:nvPr/>
        </p:nvSpPr>
        <p:spPr>
          <a:xfrm>
            <a:off x="4206240" y="1234440"/>
            <a:ext cx="0" cy="47548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Header"/>
          <p:cNvSpPr txBox="1"/>
          <p:nvPr/>
        </p:nvSpPr>
        <p:spPr>
          <a:xfrm>
            <a:off x="4297680" y="1234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2000" dirty="0"/>
          </a:p>
        </p:txBody>
      </p:sp>
      <p:sp>
        <p:nvSpPr>
          <p:cNvPr id="18" name="HLine"/>
          <p:cNvSpPr/>
          <p:nvPr/>
        </p:nvSpPr>
        <p:spPr>
          <a:xfrm>
            <a:off x="4297680" y="1691640"/>
            <a:ext cx="35661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2" name="Table"/>
          <p:cNvGraphicFramePr>
            <a:graphicFrameLocks noGrp="1"/>
          </p:cNvGraphicFramePr>
          <p:nvPr/>
        </p:nvGraphicFramePr>
        <p:xfrm>
          <a:off x="4297680" y="1874520"/>
          <a:ext cx="3566160" cy="1800000"/>
        </p:xfrm>
        <a:graphic>
          <a:graphicData uri="http://schemas.openxmlformats.org/drawingml/2006/table">
            <a:tbl>
              <a:tblPr/>
              <a:tblGrid>
                <a:gridCol w="1300000"/>
                <a:gridCol w="2266160"/>
              </a:tblGrid>
              <a:tr h="3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Engineering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Kafka, Spark, Airflow, PostgreSQL, MongoDB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 (Agentic AI)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LangChain, LlamaIndex, PyTorch/TensorFlow, HuggingFace, Librosa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Streamlit, Plotly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Simulation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ONNX Runtime, TFLite, synthetic generators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Docker, Streamlit Cloud, Colab</a:t>
                      </a:r>
                      <a:endParaRPr lang="en-US" sz="1150" dirty="0"/>
                    </a:p>
                  </a:txBody>
                  <a:tcPr marL="45720" marR="45720" marT="27940" marB="2794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VLine"/>
          <p:cNvSpPr/>
          <p:nvPr/>
        </p:nvSpPr>
        <p:spPr>
          <a:xfrm>
            <a:off x="7955280" y="1234440"/>
            <a:ext cx="0" cy="47548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Header"/>
          <p:cNvSpPr txBox="1"/>
          <p:nvPr/>
        </p:nvSpPr>
        <p:spPr>
          <a:xfrm>
            <a:off x="8046720" y="1234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2000" dirty="0"/>
          </a:p>
        </p:txBody>
      </p:sp>
      <p:sp>
        <p:nvSpPr>
          <p:cNvPr id="21" name="HLine"/>
          <p:cNvSpPr/>
          <p:nvPr/>
        </p:nvSpPr>
        <p:spPr>
          <a:xfrm>
            <a:off x="8046720" y="1691640"/>
            <a:ext cx="35661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Bullets"/>
          <p:cNvSpPr txBox="1"/>
          <p:nvPr/>
        </p:nvSpPr>
        <p:spPr>
          <a:xfrm>
            <a:off x="8046720" y="1874520"/>
            <a:ext cx="3566160" cy="44892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prototype: multimodal mood analysis + coping recommendations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demonstration of the hybrid architecture end-to-end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agent decision trail (NLP/Speech/Sensor → Fusion → Recommendation)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orchestration overhead vs. a fully agentic baseline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ready for future real-IoT sensor integration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37744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166360" y="3291840"/>
            <a:ext cx="182880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0" y="347472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</TotalTime>
  <Words>1936</Words>
  <Application>Microsoft Office PowerPoint</Application>
  <PresentationFormat>Widescreen</PresentationFormat>
  <Paragraphs>128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Shivanshika Agarwal</cp:lastModifiedBy>
  <cp:revision>6</cp:revision>
  <dcterms:created xsi:type="dcterms:W3CDTF">2026-08-26T14:38:24Z</dcterms:created>
  <dcterms:modified xsi:type="dcterms:W3CDTF">2026-08-27T04:31:32Z</dcterms:modified>
</cp:coreProperties>
</file>