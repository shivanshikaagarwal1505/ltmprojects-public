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6" r:id="rId3"/>
    <p:sldId id="257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012" autoAdjust="0"/>
  </p:normalViewPr>
  <p:slideViewPr>
    <p:cSldViewPr snapToGrid="0" snapToObjects="1">
      <p:cViewPr varScale="1">
        <p:scale>
          <a:sx n="49" d="100"/>
          <a:sy n="49" d="100"/>
        </p:scale>
        <p:origin x="15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52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 everyone. I'm Shivanshika Agarwal from VIT Chennai, presenting my Review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first project is </a:t>
            </a:r>
            <a:r>
              <a:rPr lang="en-US" dirty="0" err="1"/>
              <a:t>GraphSafeAI</a:t>
            </a:r>
            <a:r>
              <a:rPr lang="en-US" dirty="0"/>
              <a:t> — a framework combining Graph Neural Networks and </a:t>
            </a:r>
            <a:r>
              <a:rPr lang="en-US" dirty="0" err="1"/>
              <a:t>GraphRAG</a:t>
            </a:r>
            <a:r>
              <a:rPr lang="en-US" dirty="0"/>
              <a:t> to predict safety risks, recommend safer routes, and optimize emergency response for women's safety.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Today's safety systems are reactive — crime data reports incidents after they happen, navigation apps ignore safety, and response is dispatched only after an incident. Our objectives: predict risk hotspots with a </a:t>
            </a:r>
            <a:r>
              <a:rPr lang="en-US" dirty="0" err="1"/>
              <a:t>spatio</a:t>
            </a:r>
            <a:r>
              <a:rPr lang="en-US" dirty="0"/>
              <a:t>-temporal GNN, recommend safe routes, optimize emergency response placement, and provide explainable, evidence-backed risk reasoning using </a:t>
            </a:r>
            <a:r>
              <a:rPr lang="en-US" dirty="0" err="1"/>
              <a:t>GraphRAG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We use NCRB crime data, OpenStreetMap road networks, and real-time advisories, built on </a:t>
            </a:r>
            <a:r>
              <a:rPr lang="en-IN" dirty="0" err="1"/>
              <a:t>PyTorch</a:t>
            </a:r>
            <a:r>
              <a:rPr lang="en-IN" dirty="0"/>
              <a:t> Geometric, Neo4j, and </a:t>
            </a:r>
            <a:r>
              <a:rPr lang="en-IN" dirty="0" err="1"/>
              <a:t>GraphRAG</a:t>
            </a:r>
            <a:r>
              <a:rPr lang="en-IN" dirty="0"/>
              <a:t>. Expected outcomes include dynamic risk scores, safety-aware routing, optimized emergency response, and an explainable safety dashboard.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F8D3-EAA6-DD27-5501-2EE633129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33B62-2200-2E40-CFC5-F1BC1DF25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92F84-E5B0-A9AE-5AF9-A6E19675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My second project is an AI-powered Mental Health Companion, built on a hybrid agentic system that combines adaptive AI reasoning with a simple, deployable pipeline.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Existing mental health AI is either fully agentic and hard to deploy, or fully traditional and unable to reason across text, voice, and sensor data. I'm building a hybrid pipeline — agentic only in the AI/ML layer, with specialized agents for NLP, speech, sensors, fusion, and recommendations — keeping the rest of the system simple, robust, and interpretable.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46B07-4A6D-4362-FC67-EAE242CC7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BB38-29AE-A758-2D40-62C1CACC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60825-A4D3-2CC0-9DF3-CCFC96795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81F3F-89EE-51A0-B60B-4D87B6863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Using text, voice, and synthetic sensor datasets, built with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, and </a:t>
            </a:r>
            <a:r>
              <a:rPr lang="en-US" dirty="0" err="1"/>
              <a:t>HuggingFace</a:t>
            </a:r>
            <a:r>
              <a:rPr lang="en-US" dirty="0"/>
              <a:t>. </a:t>
            </a:r>
            <a:r>
              <a:rPr lang="en-US"/>
              <a:t>The outcome is a working prototype that fuses multimodal inputs into coping recommendations, with every agent's decision fully traceable.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56F4D-24D8-B76A-6FF5-27963E59B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1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1546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Shivanshika Agarwal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98609" y="3006969"/>
            <a:ext cx="279478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5" name="Text 3"/>
          <p:cNvSpPr txBox="1"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402336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GraphSafeAI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+ GraphRAG Framework for Predictive Women’s Safety &amp; Emergency Response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0604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interventions for women operate in silos: crime data is reported but never predictive, navigation apps optimize for speed — not safety, and emergency response stays reactive rather than proactive.</a:t>
            </a:r>
            <a:endParaRPr lang="en-US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also lack explainability, offering predictions with no evidence or real-world context behind them.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0" cy="4206240"/>
          </a:xfrm>
          <a:prstGeom prst="line">
            <a:avLst/>
          </a:prstGeom>
          <a:noFill/>
          <a:ln w="1270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4652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060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crime/safety risk hotspots ahead of time using spatio-temporal GNNs.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safest travel routes, not just the fastest ones.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position emergency response units in high-risk zones.</a:t>
            </a:r>
            <a:endParaRPr lang="en-US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risk prediction with retrieved, evidence-backed context via GraphRAG.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Technology &amp; Impact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GraphSafeAI — supporting data, stack, and who it serves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09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Knowledge Sources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94560"/>
            <a:ext cx="6446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NCRB crime statistics, road networks, police/hospital locations, population density, lighting infrastructure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Unstructured: police advisories, news reports, safety audits, streetlight &amp; infrastructure complaints, public event notices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772400" y="1417320"/>
            <a:ext cx="3886200" cy="493776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04672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8013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41080" y="1709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14884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commuters — safer, risk-aware route choices in real time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&amp; emergency services — proactive, data-driven unit placement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planners — evidence for lighting, patrol, and infrastructure decisions</a:t>
            </a:r>
            <a:endParaRPr lang="en-US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NGOs — an explainable, auditable safety-intelligence platform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7040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15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681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Graphs</a:t>
            </a: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9834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torch_geometric_temporal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OSMnx, NetworkX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081528" y="4681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3081528" y="49834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 / Qdrant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LangChain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294376" y="4681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Viz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5294376" y="49834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GeoPandas, Dijkstra/A*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Folium, Leaflet.js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DD72F-0203-C254-9969-AC05F9AC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D9BCA6-627F-84CA-9A56-02F8A572280A}"/>
              </a:ext>
            </a:extLst>
          </p:cNvPr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774064-7B10-0AB4-9FC9-7D07C591A07A}"/>
              </a:ext>
            </a:extLst>
          </p:cNvPr>
          <p:cNvSpPr/>
          <p:nvPr/>
        </p:nvSpPr>
        <p:spPr>
          <a:xfrm>
            <a:off x="10698480" y="402336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CD4F1E-3089-AC4A-DA43-67DC99CC7B50}"/>
              </a:ext>
            </a:extLst>
          </p:cNvPr>
          <p:cNvSpPr txBox="1"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Mental Health Companion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C148E0-0AB5-8B88-1398-8F63ACC01671}"/>
              </a:ext>
            </a:extLst>
          </p:cNvPr>
          <p:cNvSpPr txBox="1"/>
          <p:nvPr/>
        </p:nvSpPr>
        <p:spPr>
          <a:xfrm>
            <a:off x="548640" y="10058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D9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Agentic System for Multimodal Emotional Wellbeing Support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21C263-1872-E803-B986-235DEADBF9A1}"/>
              </a:ext>
            </a:extLst>
          </p:cNvPr>
          <p:cNvSpPr/>
          <p:nvPr/>
        </p:nvSpPr>
        <p:spPr>
          <a:xfrm>
            <a:off x="548640" y="1600200"/>
            <a:ext cx="110642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4004BB-3404-DF0D-8721-5581248FC502}"/>
              </a:ext>
            </a:extLst>
          </p:cNvPr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ppt/icons/shield.png">
            <a:extLst>
              <a:ext uri="{FF2B5EF4-FFF2-40B4-BE49-F238E27FC236}">
                <a16:creationId xmlns:a16="http://schemas.microsoft.com/office/drawing/2014/main" id="{7E1AE036-8928-097F-0EEA-385337B4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292608" cy="29260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9E15464-EC7B-0473-D9EA-16A221E07B3E}"/>
              </a:ext>
            </a:extLst>
          </p:cNvPr>
          <p:cNvSpPr txBox="1"/>
          <p:nvPr/>
        </p:nvSpPr>
        <p:spPr>
          <a:xfrm>
            <a:off x="132588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2C73A48-C099-196B-224A-BCDB4CF49839}"/>
              </a:ext>
            </a:extLst>
          </p:cNvPr>
          <p:cNvSpPr txBox="1"/>
          <p:nvPr/>
        </p:nvSpPr>
        <p:spPr>
          <a:xfrm>
            <a:off x="685800" y="260604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support systems rarely reason adaptively across multiple signals — text, voice, and behavioral data are analyzed in isolation, if at all.</a:t>
            </a:r>
            <a:endParaRPr lang="en-US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agentic pipelines add unnecessary complexity to data and deployment layers that don’t need it, while fully rule-based systems can’t adapt to nuanced emotional context.</a:t>
            </a:r>
            <a:endParaRPr lang="en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C4BAA2-C408-E945-1E20-0BF930437D1D}"/>
              </a:ext>
            </a:extLst>
          </p:cNvPr>
          <p:cNvSpPr/>
          <p:nvPr/>
        </p:nvSpPr>
        <p:spPr>
          <a:xfrm>
            <a:off x="6172200" y="1965960"/>
            <a:ext cx="0" cy="4206240"/>
          </a:xfrm>
          <a:prstGeom prst="line">
            <a:avLst/>
          </a:prstGeom>
          <a:noFill/>
          <a:ln w="1270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AC32355-C505-F800-42F8-A4FFFBFA45F2}"/>
              </a:ext>
            </a:extLst>
          </p:cNvPr>
          <p:cNvSpPr/>
          <p:nvPr/>
        </p:nvSpPr>
        <p:spPr>
          <a:xfrm>
            <a:off x="644652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ppt/icons/map.png">
            <a:extLst>
              <a:ext uri="{FF2B5EF4-FFF2-40B4-BE49-F238E27FC236}">
                <a16:creationId xmlns:a16="http://schemas.microsoft.com/office/drawing/2014/main" id="{B5BABA2C-2732-9178-2E41-0730E0440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92608" cy="292608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B44A6C7-925B-5F2B-BE61-CADEB12BE233}"/>
              </a:ext>
            </a:extLst>
          </p:cNvPr>
          <p:cNvSpPr txBox="1"/>
          <p:nvPr/>
        </p:nvSpPr>
        <p:spPr>
          <a:xfrm>
            <a:off x="722376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2EDB23-EB5E-FEFD-2E4A-FBFBC573C497}"/>
              </a:ext>
            </a:extLst>
          </p:cNvPr>
          <p:cNvSpPr txBox="1"/>
          <p:nvPr/>
        </p:nvSpPr>
        <p:spPr>
          <a:xfrm>
            <a:off x="6583680" y="26060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 only where adaptive reasoning earns its keep — the AI/ML layer — keeping data, frontend, and deployment layers simple.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text sentiment, voice prosody, and synthetic sensor signals into one coherent emotional-state estimate.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personalized, interpretable coping-strategy recommendations.</a:t>
            </a:r>
            <a:endParaRPr lang="en-US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DC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it through a simple journaling and mood-tracking dashboard.</a:t>
            </a:r>
            <a:endParaRPr lang="en-US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75F8B88-6D4C-08AF-7CC4-003E5B5AF83D}"/>
              </a:ext>
            </a:extLst>
          </p:cNvPr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8701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A9793-4AE5-2B27-89ED-32AEB69D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8DC21A-FE1D-286C-6F75-821EB3938179}"/>
              </a:ext>
            </a:extLst>
          </p:cNvPr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Technology &amp; Impact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3CE8F5-9701-055F-3BC3-AD0BDA78F41C}"/>
              </a:ext>
            </a:extLst>
          </p:cNvPr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GraphSafeAI — supporting data, stack, and who it serves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862C48-0693-C50B-F5AF-59DE2564693F}"/>
              </a:ext>
            </a:extLst>
          </p:cNvPr>
          <p:cNvSpPr/>
          <p:nvPr/>
        </p:nvSpPr>
        <p:spPr>
          <a:xfrm>
            <a:off x="548640" y="1417320"/>
            <a:ext cx="7040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8E5C16-86E6-6236-C954-BCB56991F15D}"/>
              </a:ext>
            </a:extLst>
          </p:cNvPr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/icons/database.png">
            <a:extLst>
              <a:ext uri="{FF2B5EF4-FFF2-40B4-BE49-F238E27FC236}">
                <a16:creationId xmlns:a16="http://schemas.microsoft.com/office/drawing/2014/main" id="{E5E2893A-F79C-F570-18B6-F1FAC873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01368"/>
            <a:ext cx="237744" cy="23774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FA4D624-15CC-AA33-EEC4-BD0D7F40A16D}"/>
              </a:ext>
            </a:extLst>
          </p:cNvPr>
          <p:cNvSpPr txBox="1"/>
          <p:nvPr/>
        </p:nvSpPr>
        <p:spPr>
          <a:xfrm>
            <a:off x="1417320" y="1709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Knowledge Sources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B1F0CFF-B056-8A7F-06AB-2C6E0CBF9442}"/>
              </a:ext>
            </a:extLst>
          </p:cNvPr>
          <p:cNvSpPr txBox="1"/>
          <p:nvPr/>
        </p:nvSpPr>
        <p:spPr>
          <a:xfrm>
            <a:off x="868680" y="2194560"/>
            <a:ext cx="6446520" cy="150876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journal entries and chat logs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recorded speech samples</a:t>
            </a:r>
            <a:endParaRPr lang="en-US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synthetic time-series signals (heart rate, activity, sleep) simulating wearable input</a:t>
            </a: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69A2DB1-1B8D-2E46-F52B-D3980713F212}"/>
              </a:ext>
            </a:extLst>
          </p:cNvPr>
          <p:cNvSpPr/>
          <p:nvPr/>
        </p:nvSpPr>
        <p:spPr>
          <a:xfrm>
            <a:off x="7772400" y="1417320"/>
            <a:ext cx="3886200" cy="493776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815F8B3-4021-411B-10CE-DB8BA25D5E88}"/>
              </a:ext>
            </a:extLst>
          </p:cNvPr>
          <p:cNvSpPr/>
          <p:nvPr/>
        </p:nvSpPr>
        <p:spPr>
          <a:xfrm>
            <a:off x="804672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ppt/icons/users.png">
            <a:extLst>
              <a:ext uri="{FF2B5EF4-FFF2-40B4-BE49-F238E27FC236}">
                <a16:creationId xmlns:a16="http://schemas.microsoft.com/office/drawing/2014/main" id="{51A4BCAA-A08C-D8FF-FCE4-AFDE042E9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801368"/>
            <a:ext cx="237744" cy="23774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9D446F2-7002-1B10-2C6F-69EAE007C275}"/>
              </a:ext>
            </a:extLst>
          </p:cNvPr>
          <p:cNvSpPr txBox="1"/>
          <p:nvPr/>
        </p:nvSpPr>
        <p:spPr>
          <a:xfrm>
            <a:off x="8641080" y="1709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2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879BCAB-2ACA-87CD-6B55-A998E6E3CBA8}"/>
              </a:ext>
            </a:extLst>
          </p:cNvPr>
          <p:cNvSpPr txBox="1"/>
          <p:nvPr/>
        </p:nvSpPr>
        <p:spPr>
          <a:xfrm>
            <a:off x="8092440" y="2185416"/>
            <a:ext cx="32918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— accessible, always-available mood tracking and coping support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Therapists &amp; counselors — richer, multimodal context between sessions</a:t>
            </a:r>
            <a:endParaRPr lang="en-US" sz="17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&amp; workplaces — scalable, low-cost first-line wellbeing support</a:t>
            </a:r>
            <a:endParaRPr lang="en-US" sz="17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— a modular testbed for agentic, multimodal mental-health AI</a:t>
            </a:r>
            <a:endParaRPr lang="en-US" sz="17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D4FAF08-52C1-5258-FC11-4CE044752712}"/>
              </a:ext>
            </a:extLst>
          </p:cNvPr>
          <p:cNvSpPr/>
          <p:nvPr/>
        </p:nvSpPr>
        <p:spPr>
          <a:xfrm>
            <a:off x="548640" y="3931920"/>
            <a:ext cx="7040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088D1E7-DB3F-FA3E-5E7D-7524250C92C2}"/>
              </a:ext>
            </a:extLst>
          </p:cNvPr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ppt/icons/cogs.png">
            <a:extLst>
              <a:ext uri="{FF2B5EF4-FFF2-40B4-BE49-F238E27FC236}">
                <a16:creationId xmlns:a16="http://schemas.microsoft.com/office/drawing/2014/main" id="{EC02AC5B-26AE-E305-7E36-C23A03C95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15968"/>
            <a:ext cx="237744" cy="23774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A3A1133-CFE9-D33E-6286-0DBAB056C2A2}"/>
              </a:ext>
            </a:extLst>
          </p:cNvPr>
          <p:cNvSpPr txBox="1"/>
          <p:nvPr/>
        </p:nvSpPr>
        <p:spPr>
          <a:xfrm>
            <a:off x="141732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A0A1E06-FD65-A616-C705-198331A49469}"/>
              </a:ext>
            </a:extLst>
          </p:cNvPr>
          <p:cNvSpPr txBox="1"/>
          <p:nvPr/>
        </p:nvSpPr>
        <p:spPr>
          <a:xfrm>
            <a:off x="868680" y="4681728"/>
            <a:ext cx="2103120" cy="27432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55EDB0B-2428-C2C8-9716-A09B67264085}"/>
              </a:ext>
            </a:extLst>
          </p:cNvPr>
          <p:cNvSpPr txBox="1"/>
          <p:nvPr/>
        </p:nvSpPr>
        <p:spPr>
          <a:xfrm>
            <a:off x="868680" y="4983480"/>
            <a:ext cx="2103120" cy="123444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Spark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DE12EBD-A557-A8D7-1DFD-8BC951FD057F}"/>
              </a:ext>
            </a:extLst>
          </p:cNvPr>
          <p:cNvSpPr txBox="1"/>
          <p:nvPr/>
        </p:nvSpPr>
        <p:spPr>
          <a:xfrm>
            <a:off x="3081528" y="4681728"/>
            <a:ext cx="2103120" cy="27432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E8B6CFE-ECBB-CE61-2AEB-26316AFA5A81}"/>
              </a:ext>
            </a:extLst>
          </p:cNvPr>
          <p:cNvSpPr txBox="1"/>
          <p:nvPr/>
        </p:nvSpPr>
        <p:spPr>
          <a:xfrm>
            <a:off x="3081528" y="4983480"/>
            <a:ext cx="2103120" cy="123444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TensorFlow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16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D6DBC53-22AC-6B73-8E1A-70EE04DC1C4F}"/>
              </a:ext>
            </a:extLst>
          </p:cNvPr>
          <p:cNvSpPr txBox="1"/>
          <p:nvPr/>
        </p:nvSpPr>
        <p:spPr>
          <a:xfrm>
            <a:off x="5294376" y="4681728"/>
            <a:ext cx="2103120" cy="27432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Edge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9227321-18A5-3EC4-D025-09DEFF793D89}"/>
              </a:ext>
            </a:extLst>
          </p:cNvPr>
          <p:cNvSpPr txBox="1"/>
          <p:nvPr/>
        </p:nvSpPr>
        <p:spPr>
          <a:xfrm>
            <a:off x="5294376" y="4983480"/>
            <a:ext cx="2103120" cy="123444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600" dirty="0">
              <a:solidFill>
                <a:srgbClr val="2030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Runtime, </a:t>
            </a: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</a:t>
            </a:r>
            <a:r>
              <a:rPr lang="en-US" sz="1600" dirty="0" err="1">
                <a:solidFill>
                  <a:srgbClr val="2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6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CE2775F-1CC3-A0C1-1DFC-F5C9F53A2744}"/>
              </a:ext>
            </a:extLst>
          </p:cNvPr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8514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820</Words>
  <Application>Microsoft Office PowerPoint</Application>
  <PresentationFormat>Widescreen</PresentationFormat>
  <Paragraphs>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Shivanshika Agarwal</cp:lastModifiedBy>
  <cp:revision>2</cp:revision>
  <dcterms:created xsi:type="dcterms:W3CDTF">2026-08-28T04:33:21Z</dcterms:created>
  <dcterms:modified xsi:type="dcterms:W3CDTF">2026-08-28T04:50:24Z</dcterms:modified>
</cp:coreProperties>
</file>