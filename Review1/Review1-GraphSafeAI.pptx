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507" r:id="rId8"/>
    <p:sldId id="2147470491" r:id="rId9"/>
    <p:sldId id="2147470487" r:id="rId10"/>
    <p:sldId id="2147470500" r:id="rId11"/>
    <p:sldId id="2147470506" r:id="rId12"/>
    <p:sldId id="2147470505" r:id="rId13"/>
    <p:sldId id="2147470504" r:id="rId14"/>
    <p:sldId id="2147470503" r:id="rId15"/>
    <p:sldId id="2147470502" r:id="rId16"/>
    <p:sldId id="2147470501" r:id="rId17"/>
    <p:sldId id="2147470499" r:id="rId18"/>
    <p:sldId id="21474704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997839"/>
            <a:ext cx="114281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GraphSafeAI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: Spatial Intelligence System</a:t>
            </a:r>
          </a:p>
          <a:p>
            <a:pPr lvl="0" algn="ctr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 Graph Neural Network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GraphSafe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) &amp; Geospatial Intelligence Platform for Urban Safety Prediction in Smart Cities</a:t>
            </a:r>
          </a:p>
          <a:p>
            <a:pPr lvl="0" algn="ctr"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Shivanshika Agarwal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T9978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" name="Picture 1" descr="LTIMindtree Introduces New Brand Identity and Positioning: LTM -- The  Business Creativity Partner – ThePrint – ANIPressReleases">
            <a:extLst>
              <a:ext uri="{FF2B5EF4-FFF2-40B4-BE49-F238E27FC236}">
                <a16:creationId xmlns:a16="http://schemas.microsoft.com/office/drawing/2014/main" id="{ECAC2736-6F3A-B08E-BA9D-9F74E900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33" r="251" b="29660"/>
          <a:stretch>
            <a:fillRect/>
          </a:stretch>
        </p:blipFill>
        <p:spPr>
          <a:xfrm>
            <a:off x="-31269" y="5927960"/>
            <a:ext cx="3119435" cy="9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Cities generate massive spatial data via road networks, public amenities, and incident logs. Current platforms rely on static crime maps and isolated reports, failing to capture spatial connectivity.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Key System Gaps Addressed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Lack of Spatial Intelligence: Inability to model spatial dependencies between adjacent blocks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Poor Network Integration: Ignores road network topology and street connectivity.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Static Safety Maps: Static hotspots fail to predict emergent risk zones dynamically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Unused Amenities Data: Underutilizes emergency infrastructure (hospitals, police stations).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Main Objective: To develop an AI-powered urban safety platform combining graph-based machine learning (</a:t>
            </a:r>
            <a:r>
              <a:rPr lang="en-US" sz="2400" b="0" dirty="0" err="1">
                <a:solidFill>
                  <a:srgbClr val="5583D1"/>
                </a:solidFill>
              </a:rPr>
              <a:t>GarphSafeAI</a:t>
            </a:r>
            <a:r>
              <a:rPr lang="en-US" sz="2400" b="0" dirty="0">
                <a:solidFill>
                  <a:srgbClr val="5583D1"/>
                </a:solidFill>
              </a:rPr>
              <a:t>) with geospatial analytics for Chennai City.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Extract and process road network topology from OpenStreetMap (OSM).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Divide city into spatial region graphs and compute structural features.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Incorporate emergency amenities and community incident reports.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Generate inductive region embeddings using </a:t>
            </a:r>
            <a:r>
              <a:rPr lang="en-US" sz="2400" b="0" dirty="0" err="1">
                <a:solidFill>
                  <a:srgbClr val="5583D1"/>
                </a:solidFill>
              </a:rPr>
              <a:t>GarphSafeAI</a:t>
            </a:r>
            <a:r>
              <a:rPr lang="en-US" sz="2400" b="0" dirty="0">
                <a:solidFill>
                  <a:srgbClr val="5583D1"/>
                </a:solidFill>
              </a:rPr>
              <a:t> GNN.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Identify structurally similar regions and detect high-risk safety zones.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ctr">
              <a:lnSpc>
                <a:spcPct val="150000"/>
              </a:lnSpc>
            </a:pPr>
            <a:r>
              <a:rPr lang="en-IN" sz="2400" b="0" dirty="0">
                <a:solidFill>
                  <a:srgbClr val="5583D1"/>
                </a:solidFill>
                <a:latin typeface="+mn-lt"/>
              </a:rPr>
              <a:t>Geographic Scope: Chennai City Urban Region</a:t>
            </a:r>
          </a:p>
          <a:p>
            <a:pPr fontAlgn="ctr">
              <a:lnSpc>
                <a:spcPct val="150000"/>
              </a:lnSpc>
            </a:pPr>
            <a:r>
              <a:rPr lang="en-IN" sz="2400" b="0" dirty="0">
                <a:solidFill>
                  <a:srgbClr val="5583D1"/>
                </a:solidFill>
                <a:latin typeface="+mn-lt"/>
              </a:rPr>
              <a:t>Data Scope: OSM Road Network, Infrastructure Amenities, Spatial Grids &amp; Citizen Incident Reports</a:t>
            </a:r>
          </a:p>
          <a:p>
            <a:pPr fontAlgn="ctr">
              <a:lnSpc>
                <a:spcPct val="150000"/>
              </a:lnSpc>
            </a:pPr>
            <a:r>
              <a:rPr lang="en-IN" sz="2400" b="0" dirty="0">
                <a:solidFill>
                  <a:srgbClr val="5583D1"/>
                </a:solidFill>
                <a:latin typeface="+mn-lt"/>
              </a:rPr>
              <a:t>Technical Scope: Graph Construction, Node Features, </a:t>
            </a:r>
            <a:r>
              <a:rPr lang="en-IN" sz="2400" b="0" dirty="0" err="1">
                <a:solidFill>
                  <a:srgbClr val="5583D1"/>
                </a:solidFill>
                <a:latin typeface="+mn-lt"/>
              </a:rPr>
              <a:t>GarphSafeAI</a:t>
            </a:r>
            <a:r>
              <a:rPr lang="en-IN" sz="2400" b="0" dirty="0">
                <a:solidFill>
                  <a:srgbClr val="5583D1"/>
                </a:solidFill>
                <a:latin typeface="+mn-lt"/>
              </a:rPr>
              <a:t> Embeddings &amp; Unsupervised Clustering</a:t>
            </a:r>
          </a:p>
          <a:p>
            <a:pPr fontAlgn="ctr">
              <a:lnSpc>
                <a:spcPct val="150000"/>
              </a:lnSpc>
            </a:pPr>
            <a:r>
              <a:rPr lang="en-IN" sz="2400" b="0" dirty="0">
                <a:solidFill>
                  <a:srgbClr val="5583D1"/>
                </a:solidFill>
                <a:latin typeface="+mn-lt"/>
              </a:rPr>
              <a:t>Excluded: Real-time CCTV analytics, live traffic, facial recognition, predictive policing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6683717" cy="508423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400" dirty="0">
                <a:solidFill>
                  <a:srgbClr val="5583D1"/>
                </a:solidFill>
              </a:rPr>
              <a:t>1. Geographic Information Systems for Urban Safety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GIS-based crime mapping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Spatial visualization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Urban analytics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400" dirty="0">
                <a:solidFill>
                  <a:srgbClr val="5583D1"/>
                </a:solidFill>
              </a:rPr>
              <a:t>2. Road Network Analysis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Graph representation of cities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Street connectivity analysis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US" sz="2400" b="0" dirty="0">
                <a:solidFill>
                  <a:srgbClr val="5583D1"/>
                </a:solidFill>
              </a:rPr>
              <a:t>Transportation network intelligence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IN" sz="2400" dirty="0">
                <a:solidFill>
                  <a:srgbClr val="5583D1"/>
                </a:solidFill>
              </a:rPr>
              <a:t>3. Graph Neural Networks (GNN)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en-IN" sz="2400" b="0" dirty="0">
                <a:solidFill>
                  <a:schemeClr val="accent1"/>
                </a:solidFill>
              </a:rPr>
              <a:t>Node 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77CBD70-352C-6511-5376-6DC65EFC6039}"/>
              </a:ext>
            </a:extLst>
          </p:cNvPr>
          <p:cNvSpPr txBox="1">
            <a:spLocks/>
          </p:cNvSpPr>
          <p:nvPr/>
        </p:nvSpPr>
        <p:spPr>
          <a:xfrm>
            <a:off x="6939713" y="1357505"/>
            <a:ext cx="5837897" cy="4142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rgbClr val="5583D1"/>
                </a:solidFill>
              </a:rPr>
              <a:t>Spatial dependency </a:t>
            </a:r>
            <a:r>
              <a:rPr lang="en-IN" sz="2400" b="0" dirty="0" err="1">
                <a:solidFill>
                  <a:srgbClr val="5583D1"/>
                </a:solidFill>
              </a:rPr>
              <a:t>modeling</a:t>
            </a:r>
            <a:endParaRPr lang="en-IN" sz="24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rgbClr val="5583D1"/>
                </a:solidFill>
              </a:rPr>
              <a:t>Message passing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5583D1"/>
                </a:solidFill>
              </a:rPr>
              <a:t>4. </a:t>
            </a:r>
            <a:r>
              <a:rPr lang="en-IN" sz="2400" dirty="0" err="1">
                <a:solidFill>
                  <a:srgbClr val="5583D1"/>
                </a:solidFill>
              </a:rPr>
              <a:t>GarphSafeAI</a:t>
            </a:r>
            <a:endParaRPr lang="en-IN" sz="240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rgbClr val="5583D1"/>
                </a:solidFill>
              </a:rPr>
              <a:t>Inductive graph learning</a:t>
            </a:r>
          </a:p>
          <a:p>
            <a:pPr>
              <a:lnSpc>
                <a:spcPct val="100000"/>
              </a:lnSpc>
            </a:pPr>
            <a:r>
              <a:rPr lang="en-IN" sz="2400" b="0" dirty="0" err="1">
                <a:solidFill>
                  <a:srgbClr val="5583D1"/>
                </a:solidFill>
              </a:rPr>
              <a:t>Neighborhood</a:t>
            </a:r>
            <a:r>
              <a:rPr lang="en-IN" sz="2400" b="0" dirty="0">
                <a:solidFill>
                  <a:srgbClr val="5583D1"/>
                </a:solidFill>
              </a:rPr>
              <a:t> aggregation</a:t>
            </a:r>
          </a:p>
          <a:p>
            <a:pPr>
              <a:lnSpc>
                <a:spcPct val="100000"/>
              </a:lnSpc>
            </a:pPr>
            <a:r>
              <a:rPr lang="en-IN" sz="2400" b="0" dirty="0">
                <a:solidFill>
                  <a:srgbClr val="5583D1"/>
                </a:solidFill>
              </a:rPr>
              <a:t>Scalable graph embeddings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5. Smart City Safety Systems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Citizen reporting systems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Public safety monitoring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Emergency response support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400" b="0" dirty="0">
              <a:solidFill>
                <a:srgbClr val="5583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Key Takeaways from Literature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Urban environments are best modeled as dynamic topological networks.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Neighborhood relationships significantly influence spatial safety outcomes.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Infrastructure density (hospitals, police, lights) dictates regional resilience.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</a:rPr>
              <a:t>Existing solutions treat these domains in silos rather than unified models.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EBE1-3AC3-1204-4A60-F645A7C1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675E1-A56A-443D-BA02-BF1419F1263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7D6754-3F15-8E4A-D06D-AFDBDD80F9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5906DC-63AF-F88E-446B-896B18CD8FA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E11E3-B71B-AC5C-9F5D-DB5D7BFB9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63" y="825710"/>
            <a:ext cx="9266660" cy="613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5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 err="1">
                <a:solidFill>
                  <a:srgbClr val="FFFFFF"/>
                </a:solidFill>
              </a:rPr>
              <a:t>GraphSafeAI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B88006-EF47-9900-954B-9B490A0D6355}"/>
              </a:ext>
            </a:extLst>
          </p:cNvPr>
          <p:cNvSpPr/>
          <p:nvPr/>
        </p:nvSpPr>
        <p:spPr>
          <a:xfrm>
            <a:off x="950393" y="2338228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07116D9A-4B69-D431-7A09-673A07EF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73" y="1594385"/>
            <a:ext cx="647700" cy="6477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7636D50-EBE0-CB8D-3501-591CA033D638}"/>
              </a:ext>
            </a:extLst>
          </p:cNvPr>
          <p:cNvSpPr txBox="1"/>
          <p:nvPr/>
        </p:nvSpPr>
        <p:spPr>
          <a:xfrm>
            <a:off x="508627" y="2413535"/>
            <a:ext cx="255219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Road Network Processing</a:t>
            </a:r>
          </a:p>
        </p:txBody>
      </p:sp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E5C71380-D716-576E-8371-F6FD8BD9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53" y="1594385"/>
            <a:ext cx="647700" cy="6477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21AF9A9-E61C-B5E6-8C51-760A6A6FFE38}"/>
              </a:ext>
            </a:extLst>
          </p:cNvPr>
          <p:cNvSpPr txBox="1"/>
          <p:nvPr/>
        </p:nvSpPr>
        <p:spPr>
          <a:xfrm>
            <a:off x="3381306" y="2413535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Region Generation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7154D910-4CB8-6F2C-F092-53DDAAC5B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34" y="1594385"/>
            <a:ext cx="647700" cy="6477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D5CBFBE-65E6-F382-D092-7015E81CF663}"/>
              </a:ext>
            </a:extLst>
          </p:cNvPr>
          <p:cNvSpPr txBox="1"/>
          <p:nvPr/>
        </p:nvSpPr>
        <p:spPr>
          <a:xfrm>
            <a:off x="6253987" y="2413535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Region Graph Construction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CA86E4A7-95AC-580A-9141-F4099B6B5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914" y="1594385"/>
            <a:ext cx="647700" cy="6477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C6304D6-87D9-76EB-BE8F-C1363849C6F7}"/>
              </a:ext>
            </a:extLst>
          </p:cNvPr>
          <p:cNvSpPr txBox="1"/>
          <p:nvPr/>
        </p:nvSpPr>
        <p:spPr>
          <a:xfrm>
            <a:off x="9126667" y="2413535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Topology Feature Engineering</a:t>
            </a:r>
            <a:endParaRPr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5E968B51-921B-0D82-87F1-83E401796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710" y="1803935"/>
            <a:ext cx="200025" cy="228600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0B25CFBF-2308-7A03-9B37-AF31474C6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391" y="1803935"/>
            <a:ext cx="200025" cy="228600"/>
          </a:xfrm>
          <a:prstGeom prst="rect">
            <a:avLst/>
          </a:prstGeom>
        </p:spPr>
      </p:pic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3B56795E-5A22-1EC6-CEA9-32B18A5260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496" y="1803935"/>
            <a:ext cx="257175" cy="228600"/>
          </a:xfrm>
          <a:prstGeom prst="rect">
            <a:avLst/>
          </a:prstGeom>
        </p:spPr>
      </p:pic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96C51152-C6A8-B413-C535-E37D2BC77B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464" y="1803935"/>
            <a:ext cx="228600" cy="2286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11021BBF-DB03-726F-E295-06E4B42DD684}"/>
              </a:ext>
            </a:extLst>
          </p:cNvPr>
          <p:cNvSpPr/>
          <p:nvPr/>
        </p:nvSpPr>
        <p:spPr>
          <a:xfrm>
            <a:off x="950393" y="4046729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056B010B-1B1A-EEA2-9052-9CC864DA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73" y="3302886"/>
            <a:ext cx="647700" cy="6477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9B1D7E54-70E0-9CE0-2FFE-529397843115}"/>
              </a:ext>
            </a:extLst>
          </p:cNvPr>
          <p:cNvSpPr txBox="1"/>
          <p:nvPr/>
        </p:nvSpPr>
        <p:spPr>
          <a:xfrm>
            <a:off x="508626" y="4122036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Infrastructure Intelligence</a:t>
            </a: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51710966-AA00-7444-1370-8D76737DB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53" y="3302886"/>
            <a:ext cx="647700" cy="6477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4D49634-6B86-01C5-E64E-70796EEDE180}"/>
              </a:ext>
            </a:extLst>
          </p:cNvPr>
          <p:cNvSpPr txBox="1"/>
          <p:nvPr/>
        </p:nvSpPr>
        <p:spPr>
          <a:xfrm>
            <a:off x="3381306" y="4122036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Accessibility Analysis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CF1F71F4-BBD2-7A0E-F1AA-5A19E1490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34" y="3302886"/>
            <a:ext cx="647700" cy="6477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DB587FBA-73C1-D223-73ED-5B90F0EC03D8}"/>
              </a:ext>
            </a:extLst>
          </p:cNvPr>
          <p:cNvSpPr txBox="1"/>
          <p:nvPr/>
        </p:nvSpPr>
        <p:spPr>
          <a:xfrm>
            <a:off x="6253987" y="4122036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Safety Intelligence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4C9628BF-A0AC-9F23-28B9-AC86D4AC3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914" y="3302886"/>
            <a:ext cx="647700" cy="6477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AFE54BAC-0C9F-8080-C584-4493E459BBE7}"/>
              </a:ext>
            </a:extLst>
          </p:cNvPr>
          <p:cNvSpPr txBox="1"/>
          <p:nvPr/>
        </p:nvSpPr>
        <p:spPr>
          <a:xfrm>
            <a:off x="9126667" y="4122036"/>
            <a:ext cx="255219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 err="1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GarphSafeAI</a:t>
            </a:r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 Learning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82" name="Picture 81" descr="image.png">
            <a:extLst>
              <a:ext uri="{FF2B5EF4-FFF2-40B4-BE49-F238E27FC236}">
                <a16:creationId xmlns:a16="http://schemas.microsoft.com/office/drawing/2014/main" id="{7BDBA5ED-C634-60BE-F47A-A7025689C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710" y="3512436"/>
            <a:ext cx="200025" cy="228600"/>
          </a:xfrm>
          <a:prstGeom prst="rect">
            <a:avLst/>
          </a:prstGeom>
        </p:spPr>
      </p:pic>
      <p:pic>
        <p:nvPicPr>
          <p:cNvPr id="84" name="Picture 83" descr="image.png">
            <a:extLst>
              <a:ext uri="{FF2B5EF4-FFF2-40B4-BE49-F238E27FC236}">
                <a16:creationId xmlns:a16="http://schemas.microsoft.com/office/drawing/2014/main" id="{C6516344-CC7D-9729-F435-EC64DDF4E5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391" y="3512436"/>
            <a:ext cx="200025" cy="228600"/>
          </a:xfrm>
          <a:prstGeom prst="rect">
            <a:avLst/>
          </a:prstGeom>
        </p:spPr>
      </p:pic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7E82ED91-1F4A-D0BA-1083-CD58EAB371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496" y="3512436"/>
            <a:ext cx="257175" cy="228600"/>
          </a:xfrm>
          <a:prstGeom prst="rect">
            <a:avLst/>
          </a:prstGeom>
        </p:spPr>
      </p:pic>
      <p:pic>
        <p:nvPicPr>
          <p:cNvPr id="88" name="Picture 87" descr="image.png">
            <a:extLst>
              <a:ext uri="{FF2B5EF4-FFF2-40B4-BE49-F238E27FC236}">
                <a16:creationId xmlns:a16="http://schemas.microsoft.com/office/drawing/2014/main" id="{5900BD2F-AE18-37B0-2C08-BA30130ED8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464" y="3512436"/>
            <a:ext cx="228600" cy="22860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06F16D11-2BAF-E526-C377-2047513777D7}"/>
              </a:ext>
            </a:extLst>
          </p:cNvPr>
          <p:cNvSpPr/>
          <p:nvPr/>
        </p:nvSpPr>
        <p:spPr>
          <a:xfrm>
            <a:off x="3823074" y="5581387"/>
            <a:ext cx="4550997" cy="39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03BF845D-FBDC-07CE-6116-37C9E4CF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554" y="4837545"/>
            <a:ext cx="647700" cy="6477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314D0E69-4694-EC89-BD0F-8760A30B6D7D}"/>
              </a:ext>
            </a:extLst>
          </p:cNvPr>
          <p:cNvSpPr txBox="1"/>
          <p:nvPr/>
        </p:nvSpPr>
        <p:spPr>
          <a:xfrm>
            <a:off x="3381307" y="5656695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Region Clustering</a:t>
            </a:r>
          </a:p>
        </p:txBody>
      </p:sp>
      <p:pic>
        <p:nvPicPr>
          <p:cNvPr id="96" name="Picture 95" descr="image.png">
            <a:extLst>
              <a:ext uri="{FF2B5EF4-FFF2-40B4-BE49-F238E27FC236}">
                <a16:creationId xmlns:a16="http://schemas.microsoft.com/office/drawing/2014/main" id="{626980EC-F7AC-FE9A-35EF-8A3ACBE4B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234" y="4837545"/>
            <a:ext cx="647700" cy="6477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F010CCB8-4910-A5ED-E91B-14DC857FB80A}"/>
              </a:ext>
            </a:extLst>
          </p:cNvPr>
          <p:cNvSpPr txBox="1"/>
          <p:nvPr/>
        </p:nvSpPr>
        <p:spPr>
          <a:xfrm>
            <a:off x="6253987" y="5656695"/>
            <a:ext cx="255219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583D1"/>
                </a:solidFill>
                <a:latin typeface="Frutiger 45 bold"/>
                <a:cs typeface="Calibri" panose="020F0502020204030204" pitchFamily="34" charset="0"/>
              </a:rPr>
              <a:t>Safety Analytics</a:t>
            </a:r>
            <a:endParaRPr lang="en-IN" sz="2400" b="1" dirty="0">
              <a:solidFill>
                <a:srgbClr val="5583D1"/>
              </a:solidFill>
              <a:latin typeface="Frutiger 45 bold"/>
              <a:cs typeface="Calibri" panose="020F0502020204030204" pitchFamily="34" charset="0"/>
            </a:endParaRPr>
          </a:p>
        </p:txBody>
      </p:sp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B7E60C2F-D0ED-5E84-E15B-D7719A49A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391" y="5047095"/>
            <a:ext cx="200025" cy="228600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4B2840C8-6796-AF3A-1882-291C83B94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0072" y="5047095"/>
            <a:ext cx="20002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OSM Data Extraction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Node Processing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Edge Processing</a:t>
            </a:r>
          </a:p>
          <a:p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Road Graph Construction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1: Road Network Processing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31DE-6D45-B862-2047-70FC03D2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1D4D4B-AB12-FAF7-FBC9-F9326E3F0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Spatial Grid Division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Region Creation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Node-to-Region Mapping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Regional Statistics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8B941-02C3-AE51-8A28-0F010DCF386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2: Region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BA40D4-F61E-5F8B-A38F-45A0CBDB966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18669D-227C-063E-5027-59DFD89D658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53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68BC-BE19-A096-0383-BBFFF75B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32BEB0-7A5C-95D5-6266-B2174B0ABB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Region Connectivity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Adjacency Computation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Graph Edge Creation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F6992-D016-C605-D9E1-9EAAAF036BE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3: Region Graph Construction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4260FE-EC9B-FD51-E7AE-E42B56F8481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751D2A-B0C9-F808-2550-A1008454F70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968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F6D8-1603-E183-9A4F-23A67AB9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0379C-5CE5-E82A-8D7E-DBF9F86E6E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Node Count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Degree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Dead-End Detection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Intersection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Connectivity Scoring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EFCFD-82DC-A92E-FCE2-E5DF7068D1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4: Topology Feature Engineering6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00BF15-D953-B12C-A54C-E92137FCC37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FB5C18-7451-EE53-80FA-5E9A4CDF5FF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79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AB08E-2817-EE5C-4BF6-23FB1121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1F9836-4A55-5490-07F8-FE2F61465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Amenity Extraction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Hospital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Police Station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Banking Accessibility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Educational Infrastructure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Emergency Infrastructure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92E32-33AF-4994-D3B1-46BF03F96E6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5: Infrastructure Intelligence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14169A-8709-6E28-D4E7-219C6992AB4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C8EB8A-ACBD-C83E-CF54-7DA8B4923A5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8648-BA44-F425-E094-2D29DCB1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056E49-00AA-3DCD-DF0E-FA72B6B97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Nearest Hospital Distance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Nearest Police Distance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Nearest School Distance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Emergency Accessibility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085E9-5302-ECF8-F15A-1028EC361A1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6: Accessibility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13F6BE-F4F8-08BF-A11E-5528DBFD98A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1DB53E1-D7A8-B27B-FA98-24D05A3C1613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91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F477-FD86-7E50-F9C0-793A7412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522D18-455D-7E88-5AA9-59ECB5381C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Community Reports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Severity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Incident Diversity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Safety Feature Generation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81EF92-FF27-D2D1-2B25-788BB7C3E2C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7: Safety Intelligence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6D5279-143C-38C7-88B0-D79982A67D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8BCFBD-42CE-7477-A378-A9B32E67505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39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C227-0091-81D2-29A7-713A24F1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D601C1-7A5D-675E-A780-8E645C3034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Graph Dataset Construction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Feature Encoding</a:t>
            </a:r>
          </a:p>
          <a:p>
            <a:r>
              <a:rPr lang="en-US" sz="2400" b="0" dirty="0" err="1">
                <a:solidFill>
                  <a:srgbClr val="242424"/>
                </a:solidFill>
                <a:latin typeface="+mn-lt"/>
              </a:rPr>
              <a:t>GarphSafeAI</a:t>
            </a:r>
            <a:r>
              <a:rPr lang="en-US" sz="2400" b="0" dirty="0">
                <a:solidFill>
                  <a:srgbClr val="242424"/>
                </a:solidFill>
                <a:latin typeface="+mn-lt"/>
              </a:rPr>
              <a:t> Architecture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Embedding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B6834-6146-B315-A0BF-E63B66B5BF5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8: </a:t>
            </a: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GarphSafeAI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Learning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3DFC8F-A726-33CE-061A-0AD8691891F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FFE611-8CC3-0E3C-9025-83982721628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59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778C-E582-CC5B-6238-69CE5261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FD4C18-A62D-1B85-08BA-2066B55ECF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Embedding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Similar Region Detection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Cluster Formation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B1077-7899-4890-924D-063DD1361C8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9: Region Clustering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05D640-6442-7954-A342-65187445B0A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EC6424-A72D-074D-BCD3-B6F8BD239C4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51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E081-4819-35B8-AB38-B49E22178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B45DD-12D1-49A2-57E4-B1B535595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456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Hotspot Framework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Similar Region Discovery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Risk Analysis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Future Prediction Framework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5FC7C-249B-EFBC-8FE7-DE0E9C40B96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10: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Safety Analytics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08D562-78AA-F76B-34A4-CCF9995A18E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CE0E60-62B1-D6E1-0F02-64DDD472C4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err="1">
                <a:solidFill>
                  <a:srgbClr val="FFFFFF"/>
                </a:solidFill>
              </a:rPr>
              <a:t>GraphSafeAI</a:t>
            </a:r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04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566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Shivanshika Agarwal</cp:lastModifiedBy>
  <cp:revision>19</cp:revision>
  <dcterms:created xsi:type="dcterms:W3CDTF">2024-05-13T10:33:11Z</dcterms:created>
  <dcterms:modified xsi:type="dcterms:W3CDTF">2026-09-11T04:17:08Z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