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1" r:id="rId13"/>
    <p:sldId id="2147470502" r:id="rId14"/>
    <p:sldId id="2147470503" r:id="rId15"/>
    <p:sldId id="2147470500" r:id="rId16"/>
    <p:sldId id="2147470504" r:id="rId17"/>
    <p:sldId id="21474705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FFFFFF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2067395"/>
            <a:ext cx="11428184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MindSafeAI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: Hybrid Agentic Mental Health Companion</a:t>
            </a:r>
          </a:p>
          <a:p>
            <a:pPr marL="0" marR="0" lvl="0" indent="0" algn="ctr" defTabSz="4572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 Multimodal AI-Driven Platform Integrating Text &amp; Speech Signals with Normalized Emotion Architecture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Shivanshika Agarwal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T9978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 descr="LTIMindtree Introduces New Brand Identity and Positioning: LTM -- The  Business Creativity Partner – ThePrint – ANIPressReleases">
            <a:extLst>
              <a:ext uri="{FF2B5EF4-FFF2-40B4-BE49-F238E27FC236}">
                <a16:creationId xmlns:a16="http://schemas.microsoft.com/office/drawing/2014/main" id="{632F9420-0EB0-BE18-70F3-75A4F51B5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933" r="251" b="29660"/>
          <a:stretch>
            <a:fillRect/>
          </a:stretch>
        </p:blipFill>
        <p:spPr>
          <a:xfrm>
            <a:off x="-31269" y="5927960"/>
            <a:ext cx="3119435" cy="9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802820" cy="552974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Mental health challenges like stress, anxiety, and burnout are rapidly rising among students and professionals. Traditional support systems face critical bottlenecks: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Constant manual clinical intervention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Expensive for continuous monitoring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Unavailable 24/7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MindSafeAI delivers an intelligent, agentic multimodal wellbeing platform that analyzes text journals and voice streams to infer emotional states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Combines heterogeneous text, sensor and speech signals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Normalizes multi-dataset emotional classifications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Enables non-invasive continuous wellbeing tracking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9CBD006-DAA7-3E5F-2BF1-B6CAD423D28F}"/>
              </a:ext>
            </a:extLst>
          </p:cNvPr>
          <p:cNvSpPr txBox="1">
            <a:spLocks/>
          </p:cNvSpPr>
          <p:nvPr/>
        </p:nvSpPr>
        <p:spPr>
          <a:xfrm>
            <a:off x="6093893" y="1271219"/>
            <a:ext cx="5964922" cy="5529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Primary Goal: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 Modular Emotional Wellness Engine Develop a scalable AI platform capable of ingesting, validating, and extracting sentiment/emotion from text journals and speech audio files in real time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Heterogeneous Data Standardization: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 Create unified data adapters for public datasets (GoEmotions, MELD, DAIR, RAVDESS) to enforce strict schema consistency across distinct data providers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Reusable Pipeline Architecture: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 Build modular data preprocessing pipelines that handle whitespace cleaning, feature extraction (word count, audio duration, sample rate), and feature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Current Implemented Scope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Text Emotion Analysis: Integration with GoEmotions, MELD, and DAIR datasets.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Speech Audio Processing: Ingestion &amp; feature extraction for RAVDESS acoustic files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Data Persistence: Storage of clean records and metadata in PostgreSQL relational database.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Future Agentic Roadmap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Wearable Device Integration: Fitbit, Apple Health, Garmin, &amp; Health Connect streaming.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Streaming Data Ingestion: Real-time event streaming via Apache Kafka or Azure Event Hubs.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Generative Recommendation Engine: Personalized wellness guidance via LLM 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Age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nts.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21274" y="441906"/>
            <a:ext cx="7305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CD5540E-239B-CE2C-FBC4-560F190925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588" y="1271587"/>
            <a:ext cx="11721553" cy="5264117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2400" b="0" dirty="0">
                <a:solidFill>
                  <a:srgbClr val="5583D1"/>
                </a:solidFill>
              </a:rPr>
              <a:t>1. Emotion Detection in Text- Natural Language Processing for emotion classification.</a:t>
            </a:r>
          </a:p>
          <a:p>
            <a:pPr marL="0" indent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2400" b="0" dirty="0">
                <a:solidFill>
                  <a:srgbClr val="5583D1"/>
                </a:solidFill>
              </a:rPr>
              <a:t>2. Speech Emotion Recognition- Emotion extraction from voice signals.</a:t>
            </a:r>
          </a:p>
          <a:p>
            <a:pPr marL="0" indent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2400" b="0" dirty="0">
                <a:solidFill>
                  <a:srgbClr val="5583D1"/>
                </a:solidFill>
              </a:rPr>
              <a:t>3. Multimodal Emotion Recognition- Combining text and speech.</a:t>
            </a:r>
          </a:p>
          <a:p>
            <a:pPr marL="0" indent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2400" b="0" dirty="0">
                <a:solidFill>
                  <a:srgbClr val="5583D1"/>
                </a:solidFill>
              </a:rPr>
              <a:t>4. Mental Health Monitoring Systems- AI-assisted wellness monitoring.</a:t>
            </a:r>
          </a:p>
          <a:p>
            <a:pPr marL="0" indent="0">
              <a:lnSpc>
                <a:spcPct val="150000"/>
              </a:lnSpc>
              <a:spcBef>
                <a:spcPts val="800"/>
              </a:spcBef>
              <a:buNone/>
            </a:pPr>
            <a:r>
              <a:rPr lang="en-US" sz="2400" b="0" dirty="0">
                <a:solidFill>
                  <a:srgbClr val="5583D1"/>
                </a:solidFill>
              </a:rPr>
              <a:t>5. Intelligent Recommendation Systems- AI-based personalized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Emotion recognition benefits from multiple modalities.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Speech and text complement each other.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Feature engineering is critical for accurate emotion prediction.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Modular architectures improve scalability and maintainability.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Trend-based analysis is more valuable than single observations.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83D1"/>
                </a:solidFill>
              </a:rPr>
              <a:t>Multi-Dataset Adapters:</a:t>
            </a:r>
            <a:r>
              <a:rPr lang="en-US" sz="2400" b="0" dirty="0">
                <a:solidFill>
                  <a:srgbClr val="5583D1"/>
                </a:solidFill>
              </a:rPr>
              <a:t> Unlike single-source platforms, MindAI seamlessly harmonizes four distinct datasets (GoEmotions, MELD, DAIR, RAVDESS) into unified contracts.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83D1"/>
                </a:solidFill>
              </a:rPr>
              <a:t>Taxonomy Normalization:</a:t>
            </a:r>
            <a:r>
              <a:rPr lang="en-US" sz="2400" b="0" dirty="0">
                <a:solidFill>
                  <a:srgbClr val="5583D1"/>
                </a:solidFill>
              </a:rPr>
              <a:t> Standardizes dozens of disparate fine-grained emotion tags into core affective categories (e.g., ANXIETY, JOY, ANGER) for robust downstream agents.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83D1"/>
                </a:solidFill>
              </a:rPr>
              <a:t>Agentic Modularity:</a:t>
            </a:r>
            <a:r>
              <a:rPr lang="en-US" sz="2400" b="0" dirty="0">
                <a:solidFill>
                  <a:srgbClr val="5583D1"/>
                </a:solidFill>
              </a:rPr>
              <a:t> Decouples data validation, feature extraction, persistence, and model inference into autonomous agents for continuous enterprise scalability.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MindSafeAI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1ACAE-5EEB-295F-1B84-B53376C6AD21}"/>
              </a:ext>
            </a:extLst>
          </p:cNvPr>
          <p:cNvSpPr/>
          <p:nvPr/>
        </p:nvSpPr>
        <p:spPr>
          <a:xfrm>
            <a:off x="950393" y="2338228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A428F2EB-1F5F-E233-A19E-67A7001A0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73" y="1594385"/>
            <a:ext cx="647700" cy="647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D5B8F8-7DBA-DF29-067E-237044DBDF53}"/>
              </a:ext>
            </a:extLst>
          </p:cNvPr>
          <p:cNvSpPr txBox="1"/>
          <p:nvPr/>
        </p:nvSpPr>
        <p:spPr>
          <a:xfrm>
            <a:off x="508627" y="2413535"/>
            <a:ext cx="255219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Dataset Management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96AA5A03-5698-B251-4A66-7C1FCCF1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553" y="1594385"/>
            <a:ext cx="647700" cy="6477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AA0A94-1729-BA79-4653-7F3802CDBA4F}"/>
              </a:ext>
            </a:extLst>
          </p:cNvPr>
          <p:cNvSpPr txBox="1"/>
          <p:nvPr/>
        </p:nvSpPr>
        <p:spPr>
          <a:xfrm>
            <a:off x="3381306" y="2413535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Data Validation</a:t>
            </a:r>
            <a:endParaRPr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C0A550E-B7AE-C3E4-8D3D-B382845AE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234" y="1594385"/>
            <a:ext cx="647700" cy="6477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E26CA41-DEB3-CC57-39DA-6F1A9B9A4C44}"/>
              </a:ext>
            </a:extLst>
          </p:cNvPr>
          <p:cNvSpPr txBox="1"/>
          <p:nvPr/>
        </p:nvSpPr>
        <p:spPr>
          <a:xfrm>
            <a:off x="6253987" y="2413535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Data Preprocessing</a:t>
            </a:r>
            <a:endParaRPr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0755B22D-2F9D-2894-77A3-1A5B6D042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914" y="1594385"/>
            <a:ext cx="647700" cy="6477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0771849-4FB9-5351-B2AD-88D28D80AF4F}"/>
              </a:ext>
            </a:extLst>
          </p:cNvPr>
          <p:cNvSpPr txBox="1"/>
          <p:nvPr/>
        </p:nvSpPr>
        <p:spPr>
          <a:xfrm>
            <a:off x="9126667" y="2413535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Emotion Normalization</a:t>
            </a:r>
            <a:endParaRPr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F599C29A-7ABF-D99A-0609-44155B9B7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710" y="1803935"/>
            <a:ext cx="200025" cy="228600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1D60CFA4-3144-D442-F8CD-2C9F68BDB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391" y="1803935"/>
            <a:ext cx="200025" cy="228600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5D08777D-B2E6-2BBE-6D53-A99A322427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1496" y="1803935"/>
            <a:ext cx="257175" cy="22860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2932F9D1-BE2A-E4BB-37C6-6C48CAF575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8464" y="1803935"/>
            <a:ext cx="228600" cy="2286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E0B553F-2D27-21F5-5214-EA38B330FA91}"/>
              </a:ext>
            </a:extLst>
          </p:cNvPr>
          <p:cNvSpPr/>
          <p:nvPr/>
        </p:nvSpPr>
        <p:spPr>
          <a:xfrm>
            <a:off x="950393" y="4046729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1F63128B-AD4C-C39F-C362-2879BD35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73" y="3302886"/>
            <a:ext cx="647700" cy="6477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D1C06FE-4E53-4E6A-0535-39A5948F9C1F}"/>
              </a:ext>
            </a:extLst>
          </p:cNvPr>
          <p:cNvSpPr txBox="1"/>
          <p:nvPr/>
        </p:nvSpPr>
        <p:spPr>
          <a:xfrm>
            <a:off x="508626" y="4122036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Data Persistence </a:t>
            </a:r>
          </a:p>
        </p:txBody>
      </p:sp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0096AC96-9024-DC79-EDA8-A791AAAF6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553" y="3302886"/>
            <a:ext cx="647700" cy="6477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A7A18CD8-CD1A-6EB2-4A8C-3B1F2CD48659}"/>
              </a:ext>
            </a:extLst>
          </p:cNvPr>
          <p:cNvSpPr txBox="1"/>
          <p:nvPr/>
        </p:nvSpPr>
        <p:spPr>
          <a:xfrm>
            <a:off x="3381306" y="4122036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NLP Analysis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50187761-F22F-E9ED-E376-9DC608F49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234" y="3302886"/>
            <a:ext cx="647700" cy="6477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319FC24-D8B7-0578-1157-6976E442BF7E}"/>
              </a:ext>
            </a:extLst>
          </p:cNvPr>
          <p:cNvSpPr txBox="1"/>
          <p:nvPr/>
        </p:nvSpPr>
        <p:spPr>
          <a:xfrm>
            <a:off x="6253987" y="4122036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Speech Analysis 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3AB41676-D292-343A-7745-3A53105A9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914" y="3302886"/>
            <a:ext cx="647700" cy="6477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AE2C861-5ED6-B594-38FF-AFEB2DE6C290}"/>
              </a:ext>
            </a:extLst>
          </p:cNvPr>
          <p:cNvSpPr txBox="1"/>
          <p:nvPr/>
        </p:nvSpPr>
        <p:spPr>
          <a:xfrm>
            <a:off x="9126667" y="4122036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Sensor Data Analysis 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8E420805-3DF9-628A-BBD1-7F96D59BD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710" y="3512436"/>
            <a:ext cx="200025" cy="228600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D38F2312-47EA-E1F5-72E8-E1F636462E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391" y="3512436"/>
            <a:ext cx="200025" cy="228600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44048350-0BF7-C0E4-D45A-EACC984CEE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1496" y="3512436"/>
            <a:ext cx="257175" cy="228600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CAD70D91-7C50-F5E7-589B-805ABFC9C0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8464" y="3512436"/>
            <a:ext cx="228600" cy="22860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D50B09BE-825A-FAFE-45A5-B0303221B888}"/>
              </a:ext>
            </a:extLst>
          </p:cNvPr>
          <p:cNvSpPr/>
          <p:nvPr/>
        </p:nvSpPr>
        <p:spPr>
          <a:xfrm>
            <a:off x="3770764" y="5571299"/>
            <a:ext cx="4917252" cy="45719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93" descr="image.png">
            <a:extLst>
              <a:ext uri="{FF2B5EF4-FFF2-40B4-BE49-F238E27FC236}">
                <a16:creationId xmlns:a16="http://schemas.microsoft.com/office/drawing/2014/main" id="{BFF1B852-7715-7191-9FCF-C508A6D07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827" y="4751414"/>
            <a:ext cx="647700" cy="6477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828465E-7CB7-1DAF-CFCA-7D7D9B67B917}"/>
              </a:ext>
            </a:extLst>
          </p:cNvPr>
          <p:cNvSpPr txBox="1"/>
          <p:nvPr/>
        </p:nvSpPr>
        <p:spPr>
          <a:xfrm>
            <a:off x="3715580" y="5570564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Multiagent Fusion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104" name="Picture 103" descr="image.png">
            <a:extLst>
              <a:ext uri="{FF2B5EF4-FFF2-40B4-BE49-F238E27FC236}">
                <a16:creationId xmlns:a16="http://schemas.microsoft.com/office/drawing/2014/main" id="{FCE4EE39-1EA5-F70B-909A-919713248C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7377" y="4960964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0FA2DD63-FF11-7A55-476D-9C586D05A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070" y="4733019"/>
            <a:ext cx="647700" cy="6477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36F2DD-7D85-A219-F0DA-6D1AFFE679A1}"/>
              </a:ext>
            </a:extLst>
          </p:cNvPr>
          <p:cNvSpPr txBox="1"/>
          <p:nvPr/>
        </p:nvSpPr>
        <p:spPr>
          <a:xfrm>
            <a:off x="6240199" y="5570564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Recommendation 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19753B24-D3EC-4E9C-D65A-E2AC6D6DF3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7620" y="494256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5837897" cy="508422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Dataset Registry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Centralized dataset configuration.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Dataset Loading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Dynamic dataset discovery.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Dataset Adapters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GoEmotions Adapter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MELD Adapter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DAIR Adapter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RAVDESS Adapter</a:t>
            </a:r>
            <a:endParaRPr lang="en-US" sz="2400" b="0" dirty="0">
              <a:solidFill>
                <a:srgbClr val="242424"/>
              </a:solidFill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1. Dataset Management</a:t>
            </a:r>
          </a:p>
          <a:p>
            <a:pPr lvl="0">
              <a:defRPr/>
            </a:pPr>
            <a:endParaRPr lang="en-US" sz="3600" b="1" dirty="0">
              <a:solidFill>
                <a:srgbClr val="5B9BD5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C50EE00-B335-87E7-1ED5-F29698A1D405}"/>
              </a:ext>
            </a:extLst>
          </p:cNvPr>
          <p:cNvSpPr txBox="1">
            <a:spLocks/>
          </p:cNvSpPr>
          <p:nvPr/>
        </p:nvSpPr>
        <p:spPr>
          <a:xfrm>
            <a:off x="6093893" y="1271219"/>
            <a:ext cx="5837897" cy="508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5583D1"/>
                </a:solidFill>
                <a:latin typeface="+mn-lt"/>
              </a:rPr>
              <a:t>Benefits</a:t>
            </a:r>
          </a:p>
          <a:p>
            <a:r>
              <a:rPr lang="en-IN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Extensibility</a:t>
            </a:r>
          </a:p>
          <a:p>
            <a:r>
              <a:rPr lang="en-IN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7CDB-5B59-9320-5E74-290999E7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E33DF2-D6F2-E124-9580-5F7263636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 Validation</a:t>
            </a:r>
            <a:endParaRPr lang="en-IN" dirty="0"/>
          </a:p>
          <a:p>
            <a:pPr lvl="0"/>
            <a:r>
              <a:rPr lang="en-US" sz="2400" b="0" dirty="0">
                <a:solidFill>
                  <a:srgbClr val="242424"/>
                </a:solidFill>
                <a:latin typeface="+mn-lt"/>
              </a:rPr>
              <a:t>Empty Text Detection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pPr lvl="0"/>
            <a:r>
              <a:rPr lang="en-US" sz="2400" b="0" dirty="0">
                <a:solidFill>
                  <a:srgbClr val="242424"/>
                </a:solidFill>
                <a:latin typeface="+mn-lt"/>
              </a:rPr>
              <a:t>Length Validation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/>
              <a:t>Audio Validation</a:t>
            </a:r>
            <a:endParaRPr lang="en-IN" dirty="0"/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File Integrity Checks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Metadata Checks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/>
              <a:t>Data Quality Assurance</a:t>
            </a:r>
            <a:endParaRPr lang="en-IN" dirty="0"/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Ensures reliable downstream processing.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endParaRPr lang="en-US" sz="2400" b="0" dirty="0">
              <a:solidFill>
                <a:srgbClr val="242424"/>
              </a:solidFill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717E3-0600-2892-2F72-96B5EBD4E48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2. Data Validation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D03078-2570-117A-EE40-9D38D044FD6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9F04E7-0B08-A406-21D7-A80D7ACF38F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545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D457-BD01-366B-A9A9-41D8BD7D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C062F5-09F8-0EF0-A7A2-0237F85AC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4615807" cy="60889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Text Cleaning</a:t>
            </a:r>
            <a:endParaRPr lang="en-IN" dirty="0"/>
          </a:p>
          <a:p>
            <a:pPr lvl="0"/>
            <a:r>
              <a:rPr lang="en-US" sz="2400" b="0" dirty="0">
                <a:solidFill>
                  <a:srgbClr val="242424"/>
                </a:solidFill>
                <a:latin typeface="+mn-lt"/>
              </a:rPr>
              <a:t>Whitespace normalization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pPr lvl="0"/>
            <a:r>
              <a:rPr lang="en-US" sz="2400" b="0" dirty="0">
                <a:solidFill>
                  <a:srgbClr val="242424"/>
                </a:solidFill>
                <a:latin typeface="+mn-lt"/>
              </a:rPr>
              <a:t>Standardization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/>
              <a:t>Feature Extraction</a:t>
            </a:r>
            <a:endParaRPr lang="en-IN" dirty="0"/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Word Count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Sentence Count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Character Count</a:t>
            </a:r>
            <a:endParaRPr lang="en-IN" sz="2400" b="0" dirty="0">
              <a:solidFill>
                <a:srgbClr val="242424"/>
              </a:solidFill>
              <a:latin typeface="+mn-lt"/>
            </a:endParaRP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Average Word Length</a:t>
            </a:r>
          </a:p>
          <a:p>
            <a:pPr marL="457200" lvl="1" indent="0">
              <a:buNone/>
            </a:pP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CF46B-D8A8-2131-172F-19ECE3BA651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3. Data Preprocessing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1AAA75-4616-1651-A86F-3BE279F3349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BC410E-4D35-E362-39CF-7288E89DA1B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CFE0615-4C8F-2B83-5BE9-F63ACC401584}"/>
              </a:ext>
            </a:extLst>
          </p:cNvPr>
          <p:cNvSpPr txBox="1">
            <a:spLocks/>
          </p:cNvSpPr>
          <p:nvPr/>
        </p:nvSpPr>
        <p:spPr>
          <a:xfrm>
            <a:off x="6093893" y="1271219"/>
            <a:ext cx="4615807" cy="6088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Audio Feature Extraction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Duration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Sample Rate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Channels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Bit Depth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6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675F-57EC-8AC4-3A9C-9D18D3C0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35EE2C-F608-02FF-C634-4C8796EA44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Emotion Taxonomy Mapping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Examples: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1     fear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2     fearful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3     nervousness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↓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1     ANXIETY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Unified Emotion Representation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242424"/>
                </a:solidFill>
                <a:latin typeface="+mn-lt"/>
              </a:rPr>
              <a:t>Provides consistency across datasets.</a:t>
            </a:r>
          </a:p>
          <a:p>
            <a:pPr marL="0" indent="0">
              <a:buNone/>
            </a:pPr>
            <a:endParaRPr lang="en-US" sz="2400" b="0" dirty="0">
              <a:solidFill>
                <a:srgbClr val="242424"/>
              </a:solidFill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BAE82-BA13-574A-C81D-ACE043F538D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4. Emotion Normalization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C7DAB0-A844-84BA-9D9F-DFC225B7B4C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BF6D97-6C16-97F9-74F2-9B335BD8F29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743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C7F6-1A24-9C66-A2F1-E3AE9684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0A88F7-01CC-A03B-5E72-4AF528D86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PostgreSQL Storage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Processed Text Records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Processed Audio Records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</a:rPr>
              <a:t>Processed Sensor Records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Repository Layer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Benefits: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Data Reusability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Historical Analysis</a:t>
            </a:r>
          </a:p>
          <a:p>
            <a:pPr marL="0" indent="0">
              <a:buNone/>
            </a:pPr>
            <a:endParaRPr lang="en-US" sz="2400" b="0" dirty="0">
              <a:solidFill>
                <a:srgbClr val="242424"/>
              </a:solidFill>
              <a:latin typeface="+mn-lt"/>
            </a:endParaRPr>
          </a:p>
          <a:p>
            <a:pPr marL="0" indent="0">
              <a:buNone/>
            </a:pPr>
            <a:endParaRPr lang="en-US" sz="2400" b="0" dirty="0">
              <a:solidFill>
                <a:srgbClr val="242424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5B852-58B8-DD10-F12C-E27DFA24486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5. Data Persistence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97B410-6A31-C36B-2804-46AD2D0EF30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2C59EE-3828-F0E5-2FB6-45797AA1913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33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DF89B-8437-DFD7-DB55-CE6C7C0A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881E7-5D88-D8E9-9F50-3F611E5C7A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Text Classification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Sentiment Analysis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Emotion Detection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Mental State Assessment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B0060-6D02-3345-E7C7-3E4B3859B27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6. NLP Analysis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7078D9-6CCB-60FB-FDBD-879550C51FD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EC5C40F-19C5-B871-570B-F9B744FF9752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18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CFB5-15E4-4989-605A-74FEFA3B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5BA49C-3A62-FF14-B113-2243210EA0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13867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Speech Emotion Recognition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Voice Feature Extraction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Emotional Pattern Recognition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B3DE1-5202-5EA4-7581-B1B365AE9D44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7. Speech Analysis </a:t>
            </a:r>
          </a:p>
          <a:p>
            <a:pPr lvl="0">
              <a:defRPr/>
            </a:pPr>
            <a:endParaRPr lang="en-US" sz="3600" b="1" dirty="0">
              <a:solidFill>
                <a:srgbClr val="5B9BD5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A70ACE-7DC7-A56C-46BC-049D4FC1C19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0884C3-9372-9CCF-E60E-EE9FCCD091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01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093F-F3BC-7DA6-045D-25E82D2D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0D27B-CF13-01B1-F180-9627EEF0ED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637266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Text Signal Aggregation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Speech Signal Aggregation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Wellness Signal Integration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Unified Emotional Assessment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6B6F3-89C2-DBD8-5109-F90F0D60CF8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8. Multimodal Fusion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0F34D2-BE60-32D0-27FE-76EBDCC7039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810D09-A758-48B0-723E-E686A1715E9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395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876D-D078-8B46-1713-6BAAEF37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3396C5-F0FA-F975-E860-9ADDD61CF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Personalized Suggestions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Wellness Activities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Trend-Based Recommendations</a:t>
            </a:r>
          </a:p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Context-Aware Recommendations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74D8C-9D20-9D0C-D4B1-5212CCC8AF1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9. Recommendation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CF022D-48F7-090C-3BE0-E590ABFAB0D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CC547E-BDA3-C99D-78B6-2EB815A632B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MindSafeAI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6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699</Words>
  <Application>Microsoft Office PowerPoint</Application>
  <PresentationFormat>Widescreen</PresentationFormat>
  <Paragraphs>153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Lato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Shivanshika Agarwal</cp:lastModifiedBy>
  <cp:revision>18</cp:revision>
  <dcterms:created xsi:type="dcterms:W3CDTF">2024-05-13T10:33:11Z</dcterms:created>
  <dcterms:modified xsi:type="dcterms:W3CDTF">2026-09-11T04:03:54Z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